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01"/>
  </p:normalViewPr>
  <p:slideViewPr>
    <p:cSldViewPr snapToGrid="0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FA02A-E83E-CFB2-151C-41873A6CCB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3F9D4B-25E8-69EE-714B-CF64795878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ABAE1-C351-101A-FD01-AB87DB607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CF0D-8778-A843-8CA9-D7C59F6EE099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58F08-7CDB-B5E8-56F3-D043C27B9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B64E4-3539-D50C-0299-68A7DE6C9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653A5-F245-854B-B210-F36357A05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318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C443E-AD49-4979-3869-209FE9683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0A98C-60F7-444B-67D8-59D947892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66946-CD29-7C8F-6B6F-DC154F6BE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CF0D-8778-A843-8CA9-D7C59F6EE099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9C898-75D7-5A06-6071-FFDB48090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5E78F-FBDB-2070-157B-6A888687C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653A5-F245-854B-B210-F36357A05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638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A13FF-AEFA-3D8C-8F21-515153AC5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42041-2593-0604-B385-0B0689E74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EFDFF-F3F9-3BF9-1D0C-F26C6FB29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CF0D-8778-A843-8CA9-D7C59F6EE099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3ED02-7914-F0E2-F802-515F40E81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622B1-53D2-6BC7-F5D6-644754057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653A5-F245-854B-B210-F36357A05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324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B55C6-3CD0-0994-B6A8-B35DC7194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2DBE4-F43A-7000-ACA9-14D19CF0DD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248889-2C7A-CD74-B6BC-8D1E497EE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51D67-346C-6F2E-78CB-C02FCCAC0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CF0D-8778-A843-8CA9-D7C59F6EE099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2267FB-86E5-E64C-6434-E0F81D145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82F178-2C7A-8BBA-09DF-492378F06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653A5-F245-854B-B210-F36357A05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186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9BF37-4EC9-7531-6018-684178A98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98753C-092A-23E6-71F9-CA834CF6E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FF3CA6-71CC-2D9F-3F2A-5E439D25C8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087FA9-72A7-1D58-D1C3-3242D33B70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E98831-B52F-2A0E-DB22-5C486640AC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9E3C27-3429-6635-0FE1-DD8C25546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CF0D-8778-A843-8CA9-D7C59F6EE099}" type="datetimeFigureOut">
              <a:rPr lang="en-US" smtClean="0"/>
              <a:t>7/8/26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01079B-CFF4-4254-1C87-AF80516F0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1360A2-DD15-8839-0FFF-D7B9BC03F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653A5-F245-854B-B210-F36357A05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041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F9992-6A6D-7F6E-9958-D68C51A5F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CDF67D-4E8E-B11C-8EC9-DFF3F0ADF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CF0D-8778-A843-8CA9-D7C59F6EE099}" type="datetimeFigureOut">
              <a:rPr lang="en-US" smtClean="0"/>
              <a:t>7/8/26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5B98BA-F449-CF16-4609-A07CC18AE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16F10F-43C4-E39B-F110-5E3B73E73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653A5-F245-854B-B210-F36357A05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135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339B14-4C63-19C1-E5D2-4EC16E5D8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CF0D-8778-A843-8CA9-D7C59F6EE099}" type="datetimeFigureOut">
              <a:rPr lang="en-US" smtClean="0"/>
              <a:t>7/8/26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66EBEE-AD1F-C208-96BB-5CA76F6CB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FE3B53-29F4-5A62-64D3-3A22C3D26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653A5-F245-854B-B210-F36357A05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304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E4414-D21D-D9DD-B97E-D105071DE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55DE6-618F-2D8F-4937-F9B599FD9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70000B-46B6-63BD-303B-8AF6FF5321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22B916-70AC-B627-AC84-1F533B72B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CF0D-8778-A843-8CA9-D7C59F6EE099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544F99-B9CA-E572-B1BD-3113CFAFA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BCDBE-EA14-3E19-5853-1BF9EC438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653A5-F245-854B-B210-F36357A05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3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7C7EB-29D7-CD69-0B90-59A3DCACB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A568EF-BFA5-9AF2-6511-DB61D97C4D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D07269-482B-E487-5FA2-51CABD710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849D2-F96B-4E53-9D93-24A21143E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CF0D-8778-A843-8CA9-D7C59F6EE099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DB74CD-7787-553D-0DE7-0EA8F5D3B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FCE9FB-CC3B-FDE9-0E8B-86C2E0D0E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653A5-F245-854B-B210-F36357A05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20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DE56E-AC21-1FE7-6B24-A936781A6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F4385C-18E8-B5FE-4F41-A2DBFD4421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D1206-580F-774C-06BB-2826E3247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CF0D-8778-A843-8CA9-D7C59F6EE099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7DF92-B6CF-831E-74A6-B1D5E8F41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52D87-0B48-A3C9-E044-14B910F22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653A5-F245-854B-B210-F36357A05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91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4E2373-C0E8-F0F6-3CFF-3DE230F00A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F1B003-F563-725E-9226-591A56BE33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22D35-2039-512C-D736-D88D022E8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CF0D-8778-A843-8CA9-D7C59F6EE099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4E61F-F470-8C34-04E2-53D1A5642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0C6B5-C7B8-04DA-560A-64C971EEB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653A5-F245-854B-B210-F36357A05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60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712410-13E0-A78A-AB91-B9F69B512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117546-B76F-850A-2DBA-220A13FE1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B8A5A-F35F-4A8E-A73F-B3C175C3CC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29CF0D-8778-A843-8CA9-D7C59F6EE099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E7A21-A670-9C8B-0400-5E2B94FDDF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D1ED8-9267-1305-8B09-EFD7C7B197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6653A5-F245-854B-B210-F36357A05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0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F7356-29B1-6C4F-A387-801D4D5398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51692" y="439075"/>
            <a:ext cx="9144000" cy="2387600"/>
          </a:xfrm>
        </p:spPr>
        <p:txBody>
          <a:bodyPr/>
          <a:lstStyle/>
          <a:p>
            <a:r>
              <a:rPr lang="en-US" dirty="0"/>
              <a:t>Haskell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BE2898-6A34-FA3C-E256-C98AEA66F2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51692" y="2918750"/>
            <a:ext cx="9144000" cy="1655762"/>
          </a:xfrm>
        </p:spPr>
        <p:txBody>
          <a:bodyPr/>
          <a:lstStyle/>
          <a:p>
            <a:r>
              <a:rPr lang="en-US" dirty="0"/>
              <a:t>A Functional </a:t>
            </a:r>
            <a:r>
              <a:rPr lang="en-US"/>
              <a:t>Programming Language </a:t>
            </a:r>
            <a:br>
              <a:rPr lang="en-US" dirty="0"/>
            </a:br>
            <a:r>
              <a:rPr lang="en-US" dirty="0"/>
              <a:t>with Static Typing and Type Inference</a:t>
            </a:r>
          </a:p>
        </p:txBody>
      </p:sp>
      <p:pic>
        <p:nvPicPr>
          <p:cNvPr id="4" name="Picture 3" descr="Haskell Curry">
            <a:extLst>
              <a:ext uri="{FF2B5EF4-FFF2-40B4-BE49-F238E27FC236}">
                <a16:creationId xmlns:a16="http://schemas.microsoft.com/office/drawing/2014/main" id="{6C118838-D051-2B72-06CD-9669961C4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6018" y="776385"/>
            <a:ext cx="2391439" cy="29271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E7DA44-CB05-CA2E-0EB8-C0DB8AC08001}"/>
              </a:ext>
            </a:extLst>
          </p:cNvPr>
          <p:cNvSpPr txBox="1"/>
          <p:nvPr/>
        </p:nvSpPr>
        <p:spPr>
          <a:xfrm>
            <a:off x="7347915" y="3795581"/>
            <a:ext cx="28676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Haskell Curry (1900 – 1982)</a:t>
            </a:r>
          </a:p>
          <a:p>
            <a:pPr algn="ctr"/>
            <a:r>
              <a:rPr lang="en-US" dirty="0"/>
              <a:t>Computer Scientist</a:t>
            </a:r>
          </a:p>
        </p:txBody>
      </p:sp>
      <p:pic>
        <p:nvPicPr>
          <p:cNvPr id="6" name="Graphic 5" descr="Haskell">
            <a:extLst>
              <a:ext uri="{FF2B5EF4-FFF2-40B4-BE49-F238E27FC236}">
                <a16:creationId xmlns:a16="http://schemas.microsoft.com/office/drawing/2014/main" id="{DE4F4967-F13E-E4E1-5C09-CE7A390008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31957" y="4658247"/>
            <a:ext cx="8483603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418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805A5-B11C-5B38-8C79-91D3A2D02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Haskell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0D8FB-98FC-26DA-8832-DB74162B0E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Haskell programming language first appeared in </a:t>
            </a:r>
            <a:r>
              <a:rPr lang="en-US" b="1" dirty="0"/>
              <a:t>1990</a:t>
            </a:r>
            <a:r>
              <a:rPr lang="en-US" dirty="0"/>
              <a:t> …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... Hubble Space Telescope put into orbit</a:t>
            </a:r>
          </a:p>
          <a:p>
            <a:pPr marL="0" indent="0">
              <a:buNone/>
            </a:pPr>
            <a:r>
              <a:rPr lang="en-US" dirty="0"/>
              <a:t>… Germany reunified</a:t>
            </a:r>
          </a:p>
          <a:p>
            <a:pPr marL="0" indent="0">
              <a:buNone/>
            </a:pPr>
            <a:r>
              <a:rPr lang="en-US" dirty="0"/>
              <a:t>… first McDonald’s in Moscow </a:t>
            </a:r>
          </a:p>
        </p:txBody>
      </p:sp>
    </p:spTree>
    <p:extLst>
      <p:ext uri="{BB962C8B-B14F-4D97-AF65-F5344CB8AC3E}">
        <p14:creationId xmlns:p14="http://schemas.microsoft.com/office/powerpoint/2010/main" val="3050217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6184A-869F-E373-D439-CFEE02619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1990 Top Grossing Movies</a:t>
            </a:r>
          </a:p>
        </p:txBody>
      </p:sp>
    </p:spTree>
    <p:extLst>
      <p:ext uri="{BB962C8B-B14F-4D97-AF65-F5344CB8AC3E}">
        <p14:creationId xmlns:p14="http://schemas.microsoft.com/office/powerpoint/2010/main" val="1405982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9495F-FDCE-C3A3-DACA-8275035F5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68CCD-84F9-8365-0B08-7A3142D3A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1990 Top Grossing Movies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C16330E-46D3-5AFD-7B2D-07A2710282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99703" y="1185704"/>
            <a:ext cx="3675947" cy="54426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FBD623-5951-2FDF-0C0B-EEC62B3A56CB}"/>
              </a:ext>
            </a:extLst>
          </p:cNvPr>
          <p:cNvSpPr txBox="1"/>
          <p:nvPr/>
        </p:nvSpPr>
        <p:spPr>
          <a:xfrm>
            <a:off x="1016350" y="1706441"/>
            <a:ext cx="609934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1. Ghost</a:t>
            </a:r>
          </a:p>
          <a:p>
            <a:r>
              <a:rPr lang="en-US" sz="2800" dirty="0"/>
              <a:t>2. Home Alone</a:t>
            </a:r>
          </a:p>
          <a:p>
            <a:r>
              <a:rPr lang="en-US" sz="2800" dirty="0"/>
              <a:t>3. Pretty Woman</a:t>
            </a:r>
          </a:p>
          <a:p>
            <a:r>
              <a:rPr lang="en-US" sz="2800" dirty="0"/>
              <a:t>4. Dances With Wolves</a:t>
            </a:r>
          </a:p>
          <a:p>
            <a:r>
              <a:rPr lang="en-US" sz="2800" dirty="0"/>
              <a:t>5. Total Recall</a:t>
            </a:r>
          </a:p>
          <a:p>
            <a:r>
              <a:rPr lang="en-US" sz="2800" dirty="0"/>
              <a:t>6. Back to the Future Part III</a:t>
            </a:r>
          </a:p>
          <a:p>
            <a:r>
              <a:rPr lang="en-US" sz="2800" dirty="0"/>
              <a:t>7. Die Hard 2</a:t>
            </a:r>
          </a:p>
          <a:p>
            <a:r>
              <a:rPr lang="en-US" sz="2800" dirty="0"/>
              <a:t>8. Presumed Innocent</a:t>
            </a:r>
          </a:p>
          <a:p>
            <a:r>
              <a:rPr lang="en-US" sz="2800" dirty="0"/>
              <a:t>9. Teenage Mutant Ninja Turtles</a:t>
            </a:r>
          </a:p>
          <a:p>
            <a:r>
              <a:rPr lang="en-US" sz="2800" dirty="0"/>
              <a:t>10. Kindergarten Cop</a:t>
            </a:r>
          </a:p>
        </p:txBody>
      </p:sp>
    </p:spTree>
    <p:extLst>
      <p:ext uri="{BB962C8B-B14F-4D97-AF65-F5344CB8AC3E}">
        <p14:creationId xmlns:p14="http://schemas.microsoft.com/office/powerpoint/2010/main" val="137913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02C96-DFCB-E5D1-FE14-5AD5FEBA6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#1 Song of 1990</a:t>
            </a:r>
          </a:p>
        </p:txBody>
      </p:sp>
    </p:spTree>
    <p:extLst>
      <p:ext uri="{BB962C8B-B14F-4D97-AF65-F5344CB8AC3E}">
        <p14:creationId xmlns:p14="http://schemas.microsoft.com/office/powerpoint/2010/main" val="2062731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55B24-BE5C-C280-B4E1-F0A7A4F75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B949F-D6D7-DB36-7913-3865C81C8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Songs of 1990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DC423E4-D9F8-4616-F81A-8F21218D6F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3987" y="1690688"/>
            <a:ext cx="4974638" cy="44086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F44966-F44E-EC87-8AFB-88AA24503133}"/>
              </a:ext>
            </a:extLst>
          </p:cNvPr>
          <p:cNvSpPr txBox="1"/>
          <p:nvPr/>
        </p:nvSpPr>
        <p:spPr>
          <a:xfrm>
            <a:off x="5812838" y="1690688"/>
            <a:ext cx="60893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1. "Hold On" Wilson Phillips</a:t>
            </a:r>
          </a:p>
          <a:p>
            <a:r>
              <a:rPr lang="en-US" sz="2400" dirty="0"/>
              <a:t>2. "It Must Have Been Love" Roxette</a:t>
            </a:r>
          </a:p>
          <a:p>
            <a:r>
              <a:rPr lang="en-US" sz="2400" dirty="0"/>
              <a:t>3. "Nothing Compares 2 U" Sinéad O'Connor</a:t>
            </a:r>
          </a:p>
          <a:p>
            <a:r>
              <a:rPr lang="en-US" sz="2400" dirty="0"/>
              <a:t>4. "Poison" Bell </a:t>
            </a:r>
            <a:r>
              <a:rPr lang="en-US" sz="2400" dirty="0" err="1"/>
              <a:t>Biv</a:t>
            </a:r>
            <a:r>
              <a:rPr lang="en-US" sz="2400" dirty="0"/>
              <a:t> DeVoe</a:t>
            </a:r>
          </a:p>
          <a:p>
            <a:r>
              <a:rPr lang="en-US" sz="2400" dirty="0"/>
              <a:t>5. "Vogue" Madonna</a:t>
            </a:r>
          </a:p>
          <a:p>
            <a:r>
              <a:rPr lang="en-US" sz="2400" dirty="0"/>
              <a:t>6. "Vision of Love" Mariah Carey</a:t>
            </a:r>
          </a:p>
          <a:p>
            <a:r>
              <a:rPr lang="en-US" sz="2400" dirty="0"/>
              <a:t>7. "Another Day in Paradise" Phil Collins</a:t>
            </a:r>
          </a:p>
          <a:p>
            <a:r>
              <a:rPr lang="en-US" sz="2400" dirty="0"/>
              <a:t>8. "Hold On" En Vogue</a:t>
            </a:r>
          </a:p>
          <a:p>
            <a:r>
              <a:rPr lang="en-US" sz="2400" dirty="0"/>
              <a:t>9. "Cradle of Love" Billy Idol</a:t>
            </a:r>
          </a:p>
          <a:p>
            <a:r>
              <a:rPr lang="en-US" sz="2400" dirty="0"/>
              <a:t>10. "Blaze of Glory" Jon Bon Jovi</a:t>
            </a:r>
          </a:p>
        </p:txBody>
      </p:sp>
    </p:spTree>
    <p:extLst>
      <p:ext uri="{BB962C8B-B14F-4D97-AF65-F5344CB8AC3E}">
        <p14:creationId xmlns:p14="http://schemas.microsoft.com/office/powerpoint/2010/main" val="3913050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B8A65-BFCD-20AD-8AE4-29409122A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1990 Best Selling U.S.A. Home Video Game</a:t>
            </a:r>
          </a:p>
        </p:txBody>
      </p:sp>
    </p:spTree>
    <p:extLst>
      <p:ext uri="{BB962C8B-B14F-4D97-AF65-F5344CB8AC3E}">
        <p14:creationId xmlns:p14="http://schemas.microsoft.com/office/powerpoint/2010/main" val="1790862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1E068-36AD-5E6D-F656-145EDB9E8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01E54-24BF-222D-12B6-043679951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1990 Best Selling U.S.A. Home Video Game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E46C32A-EC05-BD73-18BD-6F0EA2EE4A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8169" y="1461014"/>
            <a:ext cx="3491663" cy="504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084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78ADF-F16C-61B6-20FE-BE39D71EE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TV Series of 1990</a:t>
            </a:r>
          </a:p>
        </p:txBody>
      </p:sp>
    </p:spTree>
    <p:extLst>
      <p:ext uri="{BB962C8B-B14F-4D97-AF65-F5344CB8AC3E}">
        <p14:creationId xmlns:p14="http://schemas.microsoft.com/office/powerpoint/2010/main" val="3710380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6D707-1661-E7E8-06CD-F486D97E3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09330-8F09-60B0-0AEE-81BF2F5C3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TV Series of 1990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863D9B8-FE04-EEC0-3E85-2798C53505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2937" y="1456488"/>
            <a:ext cx="3559595" cy="41396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0EDDCF-0EFA-7EFC-FF4D-E3FE38D6D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797" y="5361965"/>
            <a:ext cx="3343874" cy="14960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54D935-BA9D-8FE0-2D63-7A72F03D481B}"/>
              </a:ext>
            </a:extLst>
          </p:cNvPr>
          <p:cNvSpPr txBox="1"/>
          <p:nvPr/>
        </p:nvSpPr>
        <p:spPr>
          <a:xfrm>
            <a:off x="5932715" y="1690688"/>
            <a:ext cx="542108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1. Cheers</a:t>
            </a:r>
          </a:p>
          <a:p>
            <a:r>
              <a:rPr lang="en-US" sz="2400" dirty="0"/>
              <a:t>2. 60 Minutes</a:t>
            </a:r>
          </a:p>
          <a:p>
            <a:r>
              <a:rPr lang="en-US" sz="2400" dirty="0"/>
              <a:t>3. Roseanne</a:t>
            </a:r>
          </a:p>
          <a:p>
            <a:r>
              <a:rPr lang="en-US" sz="2400" dirty="0"/>
              <a:t>4. A Different World</a:t>
            </a:r>
          </a:p>
          <a:p>
            <a:r>
              <a:rPr lang="en-US" sz="2400" dirty="0"/>
              <a:t>5. The Cosby Show</a:t>
            </a:r>
          </a:p>
          <a:p>
            <a:r>
              <a:rPr lang="en-US" sz="2400" dirty="0"/>
              <a:t>6. Murphy Brown</a:t>
            </a:r>
          </a:p>
          <a:p>
            <a:r>
              <a:rPr lang="en-US" sz="2400" dirty="0"/>
              <a:t>7. Empty Nest</a:t>
            </a:r>
          </a:p>
          <a:p>
            <a:r>
              <a:rPr lang="en-US" sz="2400" dirty="0"/>
              <a:t>     America's Funniest Home Videos</a:t>
            </a:r>
          </a:p>
          <a:p>
            <a:r>
              <a:rPr lang="en-US" sz="2400" dirty="0"/>
              <a:t>9. Monday Night Football</a:t>
            </a:r>
          </a:p>
          <a:p>
            <a:r>
              <a:rPr lang="en-US" sz="2400" dirty="0"/>
              <a:t>10. The Golden Girls</a:t>
            </a:r>
          </a:p>
          <a:p>
            <a:r>
              <a:rPr lang="en-US" sz="2400" dirty="0"/>
              <a:t>        Designing Women</a:t>
            </a:r>
          </a:p>
        </p:txBody>
      </p:sp>
    </p:spTree>
    <p:extLst>
      <p:ext uri="{BB962C8B-B14F-4D97-AF65-F5344CB8AC3E}">
        <p14:creationId xmlns:p14="http://schemas.microsoft.com/office/powerpoint/2010/main" val="2642426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31E91-D720-B5B8-BBB5-88306D585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Haskell Major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6E4DF-67DF-3720-EFD8-AFF37F430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Statically typed-checked </a:t>
            </a:r>
            <a:r>
              <a:rPr lang="en-US" dirty="0"/>
              <a:t>(at compile-time)</a:t>
            </a:r>
          </a:p>
          <a:p>
            <a:pPr marL="457200" lvl="1" indent="0">
              <a:buNone/>
            </a:pPr>
            <a:r>
              <a:rPr lang="en-US" dirty="0"/>
              <a:t>Like C++, Go, Rust</a:t>
            </a:r>
          </a:p>
          <a:p>
            <a:pPr marL="457200" lvl="1" indent="0">
              <a:buNone/>
            </a:pPr>
            <a:r>
              <a:rPr lang="en-US" dirty="0"/>
              <a:t>Unlike Racket, Python, JavaScript (dynamically type-checked at run-time)</a:t>
            </a:r>
          </a:p>
          <a:p>
            <a:pPr marL="457200" lvl="1" indent="0">
              <a:buNone/>
            </a:pPr>
            <a:r>
              <a:rPr lang="en-US" dirty="0"/>
              <a:t>Nice notation for types</a:t>
            </a:r>
          </a:p>
          <a:p>
            <a:pPr marL="0" indent="0">
              <a:buNone/>
            </a:pPr>
            <a:r>
              <a:rPr lang="en-US" b="1" dirty="0"/>
              <a:t>Lazy evaluation</a:t>
            </a:r>
          </a:p>
          <a:p>
            <a:pPr marL="457200" lvl="1" indent="0">
              <a:buNone/>
            </a:pPr>
            <a:r>
              <a:rPr lang="en-US" dirty="0"/>
              <a:t>Expressions are not evaluated until they are needed</a:t>
            </a:r>
          </a:p>
          <a:p>
            <a:pPr marL="0" indent="0">
              <a:buNone/>
            </a:pPr>
            <a:r>
              <a:rPr lang="en-US" b="1" dirty="0"/>
              <a:t>Immutable by default</a:t>
            </a:r>
          </a:p>
          <a:p>
            <a:pPr marL="457200" lvl="1" indent="0">
              <a:buNone/>
            </a:pPr>
            <a:r>
              <a:rPr lang="en-US" dirty="0"/>
              <a:t>Values cannot be changed (!)</a:t>
            </a:r>
          </a:p>
          <a:p>
            <a:pPr marL="457200" lvl="1" indent="0">
              <a:buNone/>
            </a:pPr>
            <a:r>
              <a:rPr lang="en-US" dirty="0"/>
              <a:t>All functions are pure (no side-effects)</a:t>
            </a:r>
          </a:p>
          <a:p>
            <a:pPr marL="457200" lvl="1" indent="0">
              <a:buNone/>
            </a:pPr>
            <a:r>
              <a:rPr lang="en-US" dirty="0"/>
              <a:t>Of course, to be useful, there are ways to work around this, e.g. monads and the IO type</a:t>
            </a:r>
          </a:p>
        </p:txBody>
      </p:sp>
    </p:spTree>
    <p:extLst>
      <p:ext uri="{BB962C8B-B14F-4D97-AF65-F5344CB8AC3E}">
        <p14:creationId xmlns:p14="http://schemas.microsoft.com/office/powerpoint/2010/main" val="3540114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1BC60-32C2-151A-03A0-83A0D8B4C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4BFD-8C3F-259E-0387-B162FD748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Haskell Major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ECE02-7207-1465-4665-CD3653CB7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Algebraic data types </a:t>
            </a:r>
            <a:r>
              <a:rPr lang="en-US" dirty="0"/>
              <a:t>(aka </a:t>
            </a:r>
            <a:r>
              <a:rPr lang="en-US" b="1" dirty="0"/>
              <a:t>sum types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r>
              <a:rPr lang="en-US" dirty="0"/>
              <a:t>Like </a:t>
            </a:r>
            <a:r>
              <a:rPr lang="en-US" dirty="0" err="1"/>
              <a:t>enums</a:t>
            </a:r>
            <a:r>
              <a:rPr lang="en-US" dirty="0"/>
              <a:t> on steroids</a:t>
            </a:r>
          </a:p>
          <a:p>
            <a:pPr marL="0" indent="0">
              <a:buNone/>
            </a:pPr>
            <a:r>
              <a:rPr lang="en-US" b="1" dirty="0"/>
              <a:t>Pattern matching</a:t>
            </a:r>
          </a:p>
          <a:p>
            <a:pPr marL="457200" lvl="1" indent="0">
              <a:buNone/>
            </a:pPr>
            <a:r>
              <a:rPr lang="en-US" dirty="0"/>
              <a:t>Like if-statements on steroids</a:t>
            </a:r>
          </a:p>
          <a:p>
            <a:pPr marL="0" indent="0">
              <a:buNone/>
            </a:pPr>
            <a:r>
              <a:rPr lang="en-US" b="1" dirty="0"/>
              <a:t>Composition and currying are built-in</a:t>
            </a:r>
          </a:p>
          <a:p>
            <a:pPr marL="457200" lvl="1" indent="0">
              <a:buNone/>
            </a:pPr>
            <a:r>
              <a:rPr lang="en-US" dirty="0"/>
              <a:t>Racket lets us define such things, but in Haskell they are built-in and used all the time</a:t>
            </a:r>
          </a:p>
          <a:p>
            <a:pPr marL="457200" lvl="1" indent="0">
              <a:buNone/>
            </a:pPr>
            <a:r>
              <a:rPr lang="en-US" dirty="0"/>
              <a:t>Can result in very concise programs (sometimes too concise --- can by cryptic!)</a:t>
            </a:r>
          </a:p>
          <a:p>
            <a:pPr marL="0" indent="0">
              <a:buNone/>
            </a:pPr>
            <a:r>
              <a:rPr lang="en-US" b="1" dirty="0"/>
              <a:t>Equational style</a:t>
            </a:r>
          </a:p>
          <a:p>
            <a:pPr marL="457200" lvl="1" indent="0">
              <a:buNone/>
            </a:pPr>
            <a:r>
              <a:rPr lang="en-US" dirty="0"/>
              <a:t>Functions are often written as a series of equations</a:t>
            </a:r>
          </a:p>
          <a:p>
            <a:pPr marL="457200" lvl="1" indent="0">
              <a:buNone/>
            </a:pPr>
            <a:r>
              <a:rPr lang="en-US" dirty="0"/>
              <a:t>Allows for “equational reasoning”, similar to math</a:t>
            </a:r>
          </a:p>
        </p:txBody>
      </p:sp>
    </p:spTree>
    <p:extLst>
      <p:ext uri="{BB962C8B-B14F-4D97-AF65-F5344CB8AC3E}">
        <p14:creationId xmlns:p14="http://schemas.microsoft.com/office/powerpoint/2010/main" val="788701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438</Words>
  <Application>Microsoft Macintosh PowerPoint</Application>
  <PresentationFormat>Widescreen</PresentationFormat>
  <Paragraphs>71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Haskell</vt:lpstr>
      <vt:lpstr>Haskell</vt:lpstr>
      <vt:lpstr>1990 Top Grossing Movies</vt:lpstr>
      <vt:lpstr>1990 Top Grossing Movies</vt:lpstr>
      <vt:lpstr>#1 Song of 1990</vt:lpstr>
      <vt:lpstr>Top Songs of 1990</vt:lpstr>
      <vt:lpstr>1990 Best Selling U.S.A. Home Video Game</vt:lpstr>
      <vt:lpstr>1990 Best Selling U.S.A. Home Video Game</vt:lpstr>
      <vt:lpstr>Top TV Series of 1990</vt:lpstr>
      <vt:lpstr>Top TV Series of 1990</vt:lpstr>
      <vt:lpstr>Haskell Major Features</vt:lpstr>
      <vt:lpstr>Haskell Major Features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dcterms:created xsi:type="dcterms:W3CDTF">2026-07-09T05:32:19Z</dcterms:created>
  <dcterms:modified xsi:type="dcterms:W3CDTF">2026-07-09T06:22:28Z</dcterms:modified>
</cp:coreProperties>
</file>